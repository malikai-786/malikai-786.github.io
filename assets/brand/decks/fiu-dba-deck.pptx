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Swap the title, keep the structure: mark top-left, strapline, statement, byline.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Rename the sections; five is the ceiling, three is better.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argument per slide. The card carries the supporting evidence, not a second argument.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only where a source exists. If a number has no source, it does not go on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sequence, not a cycle: audits end. Recolour nothing — the last node carries the accent because that is where judgment happens.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rows, never more. Each one verifiable.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colophon stays. It is the disclosure — one honest line, not a watermark.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business.fiu.edu/academics/graduate/doctor-of-business-administration/" TargetMode="External"/><Relationship Id="rId3" Type="http://schemas.openxmlformats.org/officeDocument/2006/relationships/hyperlink" Target="mailto:YasirAMalik@gmail.com" TargetMode="External"/><Relationship Id="rId4" Type="http://schemas.openxmlformats.org/officeDocument/2006/relationships/hyperlink" Target="https://malikai-786.github.io" TargetMode="External"/><Relationship Id="rId5" Type="http://schemas.openxmlformats.org/officeDocument/2006/relationships/hyperlink" Target="https://linkedin.com/in/yasiramalik" TargetMode="External"/><Relationship Id="rId1" Type="http://schemas.openxmlformats.org/officeDocument/2006/relationships/image" Target="../media/image-7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E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likAI-786-github-io/bd3f9871-f65b-507f-9b3e-375d1ddfe15f/scratchpad/deckassets/mark-fiu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777240"/>
            <a:ext cx="841248" cy="8412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2075688"/>
            <a:ext cx="201168" cy="0"/>
          </a:xfrm>
          <a:prstGeom prst="line">
            <a:avLst/>
          </a:prstGeom>
          <a:noFill/>
          <a:ln w="20320">
            <a:solidFill>
              <a:srgbClr val="B6862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978408" y="19202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B68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DOCTORATE IN BUSINESS ADMINISTRATION · COHORT 8.14</a:t>
            </a:r>
            <a:endParaRPr lang="en-US" sz="1050" dirty="0"/>
          </a:p>
        </p:txBody>
      </p:sp>
      <p:sp>
        <p:nvSpPr>
          <p:cNvPr id="5" name="Text 2"/>
          <p:cNvSpPr txBox="1"/>
          <p:nvPr/>
        </p:nvSpPr>
        <p:spPr>
          <a:xfrm>
            <a:off x="685800" y="2286000"/>
            <a:ext cx="9692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Presentation title goes here.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443484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 on what this session argues — written as a claim someone could disagree with, not a topic.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5806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250" kern="0" dirty="0">
                <a:solidFill>
                  <a:srgbClr val="AFC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YASIR A. MALIK  ·  FLORIDA INTERNATIONAL UNIVERSITY  ·  DATE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49224"/>
            <a:ext cx="201168" cy="0"/>
          </a:xfrm>
          <a:prstGeom prst="line">
            <a:avLst/>
          </a:prstGeom>
          <a:noFill/>
          <a:ln w="20320">
            <a:solidFill>
              <a:srgbClr val="B6862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49377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8A63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AGENDA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14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8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covers.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A63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929384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8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1929384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being asked, and why it is worth a room's time.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620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A63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825496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8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evidence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82549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actually shows, sourced.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7581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A63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72160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8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372160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analysis was built, step by step.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6542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A63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6177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8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argument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461772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claim, and the strongest case against it.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5504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A63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5138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8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5513832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room pushes back.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5A64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YASIR A. MALIK · FIU DBA · COHORT 8.14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10771632" y="63825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64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49224"/>
            <a:ext cx="201168" cy="0"/>
          </a:xfrm>
          <a:prstGeom prst="line">
            <a:avLst/>
          </a:prstGeom>
          <a:noFill/>
          <a:ln w="20320">
            <a:solidFill>
              <a:srgbClr val="B6862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49377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8A63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QUESTION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417320"/>
            <a:ext cx="66751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08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the one claim this presentation defends.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818120" y="1417320"/>
            <a:ext cx="3657600" cy="4114800"/>
          </a:xfrm>
          <a:prstGeom prst="roundRect">
            <a:avLst>
              <a:gd name="adj" fmla="val 2000"/>
            </a:avLst>
          </a:prstGeom>
          <a:solidFill>
            <a:srgbClr val="F6F8FB"/>
          </a:solidFill>
          <a:ln w="12700">
            <a:solidFill>
              <a:srgbClr val="D5DDE8"/>
            </a:solidFill>
            <a:prstDash val="solid"/>
          </a:ln>
          <a:effectLst>
            <a:outerShdw sx="100000" sy="100000" kx="0" ky="0" algn="bl" rotWithShape="0" blurRad="152400" dist="38100" dir="5400000">
              <a:srgbClr val="171A1D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138160" y="17830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8A63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IT MATTERS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138160" y="219456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08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three sentences on the stakes. Who is affected, what changes if the claim holds, and what it costs if it doesn't.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5A64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YASIR A. MALIK · FIU DBA · COHORT 8.14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10771632" y="63825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64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49224"/>
            <a:ext cx="201168" cy="0"/>
          </a:xfrm>
          <a:prstGeom prst="line">
            <a:avLst/>
          </a:prstGeom>
          <a:noFill/>
          <a:ln w="20320">
            <a:solidFill>
              <a:srgbClr val="B6862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49377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8A63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EVIDENCE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14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8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numbers that carry the argument.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3361944" cy="3017520"/>
          </a:xfrm>
          <a:prstGeom prst="roundRect">
            <a:avLst>
              <a:gd name="adj" fmla="val 2424"/>
            </a:avLst>
          </a:prstGeom>
          <a:solidFill>
            <a:srgbClr val="F6F8FB"/>
          </a:solidFill>
          <a:ln w="12700">
            <a:solidFill>
              <a:srgbClr val="D5DDE8"/>
            </a:solidFill>
            <a:prstDash val="solid"/>
          </a:ln>
          <a:effectLst>
            <a:outerShdw sx="100000" sy="100000" kx="0" ky="0" algn="bl" rotWithShape="0" blurRad="127000" dist="25400" dir="5400000">
              <a:srgbClr val="171A1D">
                <a:alpha val="1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1005840" y="2514600"/>
            <a:ext cx="2721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8A63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 ONE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880360"/>
            <a:ext cx="27218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8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00%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4069080"/>
            <a:ext cx="27218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measures and where it comes from.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13504" y="2103120"/>
            <a:ext cx="3361944" cy="3017520"/>
          </a:xfrm>
          <a:prstGeom prst="roundRect">
            <a:avLst>
              <a:gd name="adj" fmla="val 2424"/>
            </a:avLst>
          </a:prstGeom>
          <a:solidFill>
            <a:srgbClr val="F6F8FB"/>
          </a:solidFill>
          <a:ln w="12700">
            <a:solidFill>
              <a:srgbClr val="D5DDE8"/>
            </a:solidFill>
            <a:prstDash val="solid"/>
          </a:ln>
          <a:effectLst>
            <a:outerShdw sx="100000" sy="100000" kx="0" ky="0" algn="bl" rotWithShape="0" blurRad="127000" dist="25400" dir="5400000">
              <a:srgbClr val="171A1D">
                <a:alpha val="1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733544" y="2514600"/>
            <a:ext cx="2721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8A63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 TWO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4733544" y="2880360"/>
            <a:ext cx="27218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8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4733544" y="4069080"/>
            <a:ext cx="27218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measures and where it comes from.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41208" y="2103120"/>
            <a:ext cx="3361944" cy="3017520"/>
          </a:xfrm>
          <a:prstGeom prst="roundRect">
            <a:avLst>
              <a:gd name="adj" fmla="val 2424"/>
            </a:avLst>
          </a:prstGeom>
          <a:solidFill>
            <a:srgbClr val="F6F8FB"/>
          </a:solidFill>
          <a:ln w="12700">
            <a:solidFill>
              <a:srgbClr val="D5DDE8"/>
            </a:solidFill>
            <a:prstDash val="solid"/>
          </a:ln>
          <a:effectLst>
            <a:outerShdw sx="100000" sy="100000" kx="0" ky="0" algn="bl" rotWithShape="0" blurRad="127000" dist="25400" dir="5400000">
              <a:srgbClr val="171A1D">
                <a:alpha val="1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461248" y="2514600"/>
            <a:ext cx="2721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8A63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 THREE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461248" y="2880360"/>
            <a:ext cx="272186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8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0×</a:t>
            </a:r>
            <a:endParaRPr lang="en-US" sz="5400" dirty="0"/>
          </a:p>
        </p:txBody>
      </p:sp>
      <p:sp>
        <p:nvSpPr>
          <p:cNvPr id="16" name="Text 14"/>
          <p:cNvSpPr txBox="1"/>
          <p:nvPr/>
        </p:nvSpPr>
        <p:spPr>
          <a:xfrm>
            <a:off x="8461248" y="4069080"/>
            <a:ext cx="27218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measures and where it comes from.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486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this slide needs a source in the notes. No source, no slide.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5A64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YASIR A. MALIK · FIU DBA · COHORT 8.14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10771632" y="63825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64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49224"/>
            <a:ext cx="201168" cy="0"/>
          </a:xfrm>
          <a:prstGeom prst="line">
            <a:avLst/>
          </a:prstGeom>
          <a:noFill/>
          <a:ln w="20320">
            <a:solidFill>
              <a:srgbClr val="B6862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49377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8A63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144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8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method, in four steps.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2148840"/>
            <a:ext cx="2464308" cy="3108960"/>
          </a:xfrm>
          <a:prstGeom prst="roundRect">
            <a:avLst>
              <a:gd name="adj" fmla="val 2968"/>
            </a:avLst>
          </a:prstGeom>
          <a:solidFill>
            <a:srgbClr val="F6F8FB"/>
          </a:solidFill>
          <a:ln w="12700">
            <a:solidFill>
              <a:srgbClr val="D5DD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468880"/>
            <a:ext cx="475488" cy="475488"/>
          </a:xfrm>
          <a:prstGeom prst="ellipse">
            <a:avLst/>
          </a:prstGeom>
          <a:solidFill>
            <a:srgbClr val="081E3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468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154680"/>
            <a:ext cx="19156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8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Frame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703320"/>
            <a:ext cx="19156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construct and what would falsify it.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70148" y="2148840"/>
            <a:ext cx="2464308" cy="3108960"/>
          </a:xfrm>
          <a:prstGeom prst="roundRect">
            <a:avLst>
              <a:gd name="adj" fmla="val 2968"/>
            </a:avLst>
          </a:prstGeom>
          <a:solidFill>
            <a:srgbClr val="F6F8FB"/>
          </a:solidFill>
          <a:ln w="12700">
            <a:solidFill>
              <a:srgbClr val="D5DD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44468" y="2468880"/>
            <a:ext cx="475488" cy="475488"/>
          </a:xfrm>
          <a:prstGeom prst="ellipse">
            <a:avLst/>
          </a:prstGeom>
          <a:solidFill>
            <a:srgbClr val="081E3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44468" y="2468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744468" y="3154680"/>
            <a:ext cx="19156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8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3744468" y="3703320"/>
            <a:ext cx="19156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Instrument, sample, and the limits of both.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54496" y="2148840"/>
            <a:ext cx="2464308" cy="3108960"/>
          </a:xfrm>
          <a:prstGeom prst="roundRect">
            <a:avLst>
              <a:gd name="adj" fmla="val 2968"/>
            </a:avLst>
          </a:prstGeom>
          <a:solidFill>
            <a:srgbClr val="F6F8FB"/>
          </a:solidFill>
          <a:ln w="12700">
            <a:solidFill>
              <a:srgbClr val="D5DD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28816" y="2468880"/>
            <a:ext cx="475488" cy="475488"/>
          </a:xfrm>
          <a:prstGeom prst="ellipse">
            <a:avLst/>
          </a:prstGeom>
          <a:solidFill>
            <a:srgbClr val="081E3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28816" y="2468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528816" y="3154680"/>
            <a:ext cx="19156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8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Analyze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528816" y="3703320"/>
            <a:ext cx="19156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model, and the assumptions it leans on.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38844" y="2148840"/>
            <a:ext cx="2464308" cy="3108960"/>
          </a:xfrm>
          <a:prstGeom prst="roundRect">
            <a:avLst>
              <a:gd name="adj" fmla="val 2968"/>
            </a:avLst>
          </a:prstGeom>
          <a:solidFill>
            <a:srgbClr val="F6F8FB"/>
          </a:solidFill>
          <a:ln w="12700">
            <a:solidFill>
              <a:srgbClr val="D5DD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13164" y="2468880"/>
            <a:ext cx="475488" cy="475488"/>
          </a:xfrm>
          <a:prstGeom prst="ellipse">
            <a:avLst/>
          </a:prstGeom>
          <a:solidFill>
            <a:srgbClr val="B6862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13164" y="24688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313164" y="3154680"/>
            <a:ext cx="19156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08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9313164" y="3703320"/>
            <a:ext cx="191566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5A64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result licenses you to claim — and no more.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5A64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YASIR A. MALIK · FIU DBA · COHORT 8.14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10771632" y="63825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64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49224"/>
            <a:ext cx="201168" cy="0"/>
          </a:xfrm>
          <a:prstGeom prst="line">
            <a:avLst/>
          </a:prstGeom>
          <a:noFill/>
          <a:ln w="20320">
            <a:solidFill>
              <a:srgbClr val="B6862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493776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8A63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RECORD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144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81E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in work already done.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574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8A63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REGULATOR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2011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8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Safety-and-soundness examination — Florida Office of Financial Regulation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761488"/>
            <a:ext cx="10817352" cy="0"/>
          </a:xfrm>
          <a:prstGeom prst="line">
            <a:avLst/>
          </a:prstGeom>
          <a:noFill/>
          <a:ln w="9525">
            <a:solidFill>
              <a:srgbClr val="D5DD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0449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8A63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OPERATOR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29992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8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years in audit and risk — Citigroup, JPMorgan Chase, to Vice President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3749040"/>
            <a:ext cx="10817352" cy="0"/>
          </a:xfrm>
          <a:prstGeom prst="line">
            <a:avLst/>
          </a:prstGeom>
          <a:noFill/>
          <a:ln w="9525">
            <a:solidFill>
              <a:srgbClr val="D5DDE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0325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8A63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398678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8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AI shipped into a live audit function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4736592"/>
            <a:ext cx="10817352" cy="0"/>
          </a:xfrm>
          <a:prstGeom prst="line">
            <a:avLst/>
          </a:prstGeom>
          <a:noFill/>
          <a:ln w="9525">
            <a:solidFill>
              <a:srgbClr val="D5DDE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50200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8A63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RESEARCHER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4974336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81E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DBA candidate, Florida International University — expected 2028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5A64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YASIR A. MALIK · FIU DBA · COHORT 8.14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0771632" y="63825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5A64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1E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likAI-786-github-io/bd3f9871-f65b-507f-9b3e-375d1ddfe15f/scratchpad/deckassets/mark-fiu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77724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1920240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Discussion.</a:t>
            </a:r>
            <a:endParaRPr lang="en-US" sz="3800" dirty="0"/>
          </a:p>
        </p:txBody>
      </p:sp>
      <p:sp>
        <p:nvSpPr>
          <p:cNvPr id="4" name="Text 1"/>
          <p:cNvSpPr txBox="1"/>
          <p:nvPr/>
        </p:nvSpPr>
        <p:spPr>
          <a:xfrm>
            <a:off x="685800" y="379476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B68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FIU DBA</a:t>
            </a:r>
            <a:endParaRPr lang="en-US" sz="950" dirty="0"/>
          </a:p>
        </p:txBody>
      </p:sp>
      <p:sp>
        <p:nvSpPr>
          <p:cNvPr id="5" name="Text 2">
            <a:hlinkClick r:id="rId2" tooltip=""/>
          </p:cNvPr>
          <p:cNvSpPr txBox="1"/>
          <p:nvPr/>
        </p:nvSpPr>
        <p:spPr>
          <a:xfrm>
            <a:off x="2331720" y="3776472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business.fiu.edu/academics/graduate/doctor-of-business-administration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4215384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B68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EMAIL</a:t>
            </a:r>
            <a:endParaRPr lang="en-US" sz="950" dirty="0"/>
          </a:p>
        </p:txBody>
      </p:sp>
      <p:sp>
        <p:nvSpPr>
          <p:cNvPr id="7" name="Text 4">
            <a:hlinkClick r:id="rId3" tooltip=""/>
          </p:cNvPr>
          <p:cNvSpPr txBox="1"/>
          <p:nvPr/>
        </p:nvSpPr>
        <p:spPr>
          <a:xfrm>
            <a:off x="2331720" y="4197096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YasirAMalik@gmail.com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63600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B68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</a:t>
            </a:r>
            <a:endParaRPr lang="en-US" sz="950" dirty="0"/>
          </a:p>
        </p:txBody>
      </p:sp>
      <p:sp>
        <p:nvSpPr>
          <p:cNvPr id="9" name="Text 6">
            <a:hlinkClick r:id="rId4" tooltip=""/>
          </p:cNvPr>
          <p:cNvSpPr txBox="1"/>
          <p:nvPr/>
        </p:nvSpPr>
        <p:spPr>
          <a:xfrm>
            <a:off x="2331720" y="4617720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malikai-786.github.io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505663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50" kern="0" dirty="0">
                <a:solidFill>
                  <a:srgbClr val="B68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LINKEDIN</a:t>
            </a:r>
            <a:endParaRPr lang="en-US" sz="950" dirty="0"/>
          </a:p>
        </p:txBody>
      </p:sp>
      <p:sp>
        <p:nvSpPr>
          <p:cNvPr id="11" name="Text 8">
            <a:hlinkClick r:id="rId5" tooltip=""/>
          </p:cNvPr>
          <p:cNvSpPr txBox="1"/>
          <p:nvPr/>
        </p:nvSpPr>
        <p:spPr>
          <a:xfrm>
            <a:off x="2331720" y="5038344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linkedin.com/in/yasiramalik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85800" y="5989320"/>
            <a:ext cx="10817352" cy="0"/>
          </a:xfrm>
          <a:prstGeom prst="line">
            <a:avLst/>
          </a:prstGeom>
          <a:noFill/>
          <a:ln w="9525">
            <a:solidFill>
              <a:srgbClr val="1D3A6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85800" y="6144768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FC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with AI-assisted drafting and analysis. All judgment, synthesis, and interpretation are the author's.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FIU DBA — Yasir A. Malik</dc:title>
  <dc:subject>PptxGenJS Presentation</dc:subject>
  <dc:creator>Yasir A. Malik</dc:creator>
  <cp:lastModifiedBy>Yasir A. Malik</cp:lastModifiedBy>
  <cp:revision>1</cp:revision>
  <dcterms:created xsi:type="dcterms:W3CDTF">2026-08-27T05:13:32Z</dcterms:created>
  <dcterms:modified xsi:type="dcterms:W3CDTF">2026-08-27T05:13:32Z</dcterms:modified>
</cp:coreProperties>
</file>