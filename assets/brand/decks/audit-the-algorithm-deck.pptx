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Swap the title, keep the structure: mark top-left, strapline, statement, byline.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Rename the sections; five is the ceiling, three is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argument per slide. The card carries the supporting evidence, not a second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only where a source exists. If a number has no source, it does not go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sequence, not a cycle: audits end. Recolour nothing — the last node carries the accent because that is where judgment happens.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rows, never more. Each one verifiable.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colophon stays. It is the disclosure — one honest line, not a watermark.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malikai-786.github.io/governance.html" TargetMode="External"/><Relationship Id="rId3" Type="http://schemas.openxmlformats.org/officeDocument/2006/relationships/hyperlink" Target="mailto:YasirAMalik@gmail.com" TargetMode="External"/><Relationship Id="rId4" Type="http://schemas.openxmlformats.org/officeDocument/2006/relationships/hyperlink" Target="https://malikai-786.github.io" TargetMode="External"/><Relationship Id="rId5" Type="http://schemas.openxmlformats.org/officeDocument/2006/relationships/hyperlink" Target="https://linkedin.com/in/yasiramalik" TargetMode="External"/><Relationship Id="rId6" Type="http://schemas.openxmlformats.org/officeDocument/2006/relationships/hyperlink" Target="https://proofoverpromise.substack.com" TargetMode="External"/><Relationship Id="rId1" Type="http://schemas.openxmlformats.org/officeDocument/2006/relationships/image" Target="../media/image-7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likAI-786-github-io/bd3f9871-f65b-507f-9b3e-375d1ddfe15f/scratchpad/deckassets/mark-ember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777240"/>
            <a:ext cx="841248" cy="841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2075688"/>
            <a:ext cx="201168" cy="0"/>
          </a:xfrm>
          <a:prstGeom prst="line">
            <a:avLst/>
          </a:prstGeom>
          <a:noFill/>
          <a:ln w="20320">
            <a:solidFill>
              <a:srgbClr val="E0662E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978408" y="1920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06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· RISK · GOVERNANCE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286000"/>
            <a:ext cx="9692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D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the Algorithm.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4348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6B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Governance-first AI advisory for regulated organizations. Five offers, each grounded in work already done rather than a capability claimed.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A6B0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YASIR A. MALIK  ·  ADVISORY PRACTICE  ·  DATE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9224"/>
            <a:ext cx="201168" cy="0"/>
          </a:xfrm>
          <a:prstGeom prst="line">
            <a:avLst/>
          </a:prstGeom>
          <a:noFill/>
          <a:ln w="20320">
            <a:solidFill>
              <a:srgbClr val="E066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4937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covers.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92938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929384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arrives already confident — and review quietly stops.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620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2549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82549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twenty years of audit work says about deference.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7581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72160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72160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 and SR 26-2, applied — not recited.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6542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6177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offers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46177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engagements, each already done once.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550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5138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55138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use, your examiners, your questions.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THE ALGORITHM · YASIR A. MALIK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07716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9224"/>
            <a:ext cx="201168" cy="0"/>
          </a:xfrm>
          <a:prstGeom prst="line">
            <a:avLst/>
          </a:prstGeom>
          <a:noFill/>
          <a:ln w="20320">
            <a:solidFill>
              <a:srgbClr val="E066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4937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17320"/>
            <a:ext cx="66751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dangerous number in the room is the one nobody questions.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818120" y="141732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DAD3"/>
            </a:solidFill>
            <a:prstDash val="solid"/>
          </a:ln>
          <a:effectLst>
            <a:outerShdw sx="100000" sy="100000" kx="0" ky="0" algn="bl" rotWithShape="0" blurRad="152400" dist="38100" dir="5400000">
              <a:srgbClr val="171A1D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138160" y="1783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MECHANISM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138160" y="219456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7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tuned on human approval agrees with the position you already hold — and it is most agreeable exactly where a reviewer most needs pushback.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THE ALGORITHM · YASIR A. MALIK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07716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9224"/>
            <a:ext cx="201168" cy="0"/>
          </a:xfrm>
          <a:prstGeom prst="line">
            <a:avLst/>
          </a:prstGeom>
          <a:noFill/>
          <a:ln w="20320">
            <a:solidFill>
              <a:srgbClr val="E066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4937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record, in numbers.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3361944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2DAD3"/>
            </a:solidFill>
            <a:prstDash val="solid"/>
          </a:ln>
          <a:effectLst>
            <a:outerShdw sx="100000" sy="100000" kx="0" ky="0" algn="bl" rotWithShape="0" blurRad="127000" dist="25400" dir="5400000">
              <a:srgbClr val="171A1D">
                <a:alpha val="1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05840" y="2514600"/>
            <a:ext cx="2721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 TIME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880360"/>
            <a:ext cx="2721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069080"/>
            <a:ext cx="2721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after shipping a retrieval assistant into a live audit function.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13504" y="2103120"/>
            <a:ext cx="3361944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2DAD3"/>
            </a:solidFill>
            <a:prstDash val="solid"/>
          </a:ln>
          <a:effectLst>
            <a:outerShdw sx="100000" sy="100000" kx="0" ky="0" algn="bl" rotWithShape="0" blurRad="127000" dist="25400" dir="5400000">
              <a:srgbClr val="171A1D">
                <a:alpha val="1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733544" y="2514600"/>
            <a:ext cx="2721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YEARS IN AUDIT &amp; RISK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733544" y="2880360"/>
            <a:ext cx="2721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4733544" y="4069080"/>
            <a:ext cx="2721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Regulator's seat, then Citigroup and JPMorgan Chase to Vice President.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1208" y="2103120"/>
            <a:ext cx="3361944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2DAD3"/>
            </a:solidFill>
            <a:prstDash val="solid"/>
          </a:ln>
          <a:effectLst>
            <a:outerShdw sx="100000" sy="100000" kx="0" ky="0" algn="bl" rotWithShape="0" blurRad="127000" dist="25400" dir="5400000">
              <a:srgbClr val="171A1D">
                <a:alpha val="1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461248" y="2514600"/>
            <a:ext cx="2721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DOCTORAL FOCUS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461248" y="2880360"/>
            <a:ext cx="2721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6" name="Text 14"/>
          <p:cNvSpPr txBox="1"/>
          <p:nvPr/>
        </p:nvSpPr>
        <p:spPr>
          <a:xfrm>
            <a:off x="8461248" y="4069080"/>
            <a:ext cx="2721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does the reviewer still review when the analysis arrives formed?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the record at malikai-786.github.io — every claim verifiable there.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THE ALGORITHM · YASIR A. MALIK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9224"/>
            <a:ext cx="201168" cy="0"/>
          </a:xfrm>
          <a:prstGeom prst="line">
            <a:avLst/>
          </a:prstGeom>
          <a:noFill/>
          <a:ln w="20320">
            <a:solidFill>
              <a:srgbClr val="E066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4937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engagement runs.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2464308" cy="3108960"/>
          </a:xfrm>
          <a:prstGeom prst="roundRect">
            <a:avLst>
              <a:gd name="adj" fmla="val 2968"/>
            </a:avLst>
          </a:prstGeom>
          <a:solidFill>
            <a:srgbClr val="FFFFFF"/>
          </a:solidFill>
          <a:ln w="12700">
            <a:solidFill>
              <a:srgbClr val="E2DA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468880"/>
            <a:ext cx="475488" cy="475488"/>
          </a:xfrm>
          <a:prstGeom prst="ellipse">
            <a:avLst/>
          </a:prstGeom>
          <a:solidFill>
            <a:srgbClr val="171A1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154680"/>
            <a:ext cx="1915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Inventory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703320"/>
            <a:ext cx="19156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AI is actually in use, including the unofficial.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0148" y="2148840"/>
            <a:ext cx="2464308" cy="3108960"/>
          </a:xfrm>
          <a:prstGeom prst="roundRect">
            <a:avLst>
              <a:gd name="adj" fmla="val 2968"/>
            </a:avLst>
          </a:prstGeom>
          <a:solidFill>
            <a:srgbClr val="FFFFFF"/>
          </a:solidFill>
          <a:ln w="12700">
            <a:solidFill>
              <a:srgbClr val="E2DA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4468" y="2468880"/>
            <a:ext cx="475488" cy="475488"/>
          </a:xfrm>
          <a:prstGeom prst="ellipse">
            <a:avLst/>
          </a:prstGeom>
          <a:solidFill>
            <a:srgbClr val="171A1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44468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744468" y="3154680"/>
            <a:ext cx="1915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744468" y="3703320"/>
            <a:ext cx="19156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NIST AI RMF and SR 26-2 — gaps, not vibes.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54496" y="2148840"/>
            <a:ext cx="2464308" cy="3108960"/>
          </a:xfrm>
          <a:prstGeom prst="roundRect">
            <a:avLst>
              <a:gd name="adj" fmla="val 2968"/>
            </a:avLst>
          </a:prstGeom>
          <a:solidFill>
            <a:srgbClr val="FFFFFF"/>
          </a:solidFill>
          <a:ln w="12700">
            <a:solidFill>
              <a:srgbClr val="E2DA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2468880"/>
            <a:ext cx="475488" cy="475488"/>
          </a:xfrm>
          <a:prstGeom prst="ellipse">
            <a:avLst/>
          </a:prstGeom>
          <a:solidFill>
            <a:srgbClr val="171A1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28816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28816" y="3154680"/>
            <a:ext cx="1915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3703320"/>
            <a:ext cx="19156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Human-oversight points where deference is likeliest.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844" y="2148840"/>
            <a:ext cx="2464308" cy="3108960"/>
          </a:xfrm>
          <a:prstGeom prst="roundRect">
            <a:avLst>
              <a:gd name="adj" fmla="val 2968"/>
            </a:avLst>
          </a:prstGeom>
          <a:solidFill>
            <a:srgbClr val="FFFFFF"/>
          </a:solidFill>
          <a:ln w="12700">
            <a:solidFill>
              <a:srgbClr val="E2DA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13164" y="2468880"/>
            <a:ext cx="475488" cy="475488"/>
          </a:xfrm>
          <a:prstGeom prst="ellipse">
            <a:avLst/>
          </a:prstGeom>
          <a:solidFill>
            <a:srgbClr val="E066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13164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13164" y="3154680"/>
            <a:ext cx="1915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9313164" y="3703320"/>
            <a:ext cx="19156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trail an examiner will actually ask for.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THE ALGORITHM · YASIR A. MALIK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9224"/>
            <a:ext cx="201168" cy="0"/>
          </a:xfrm>
          <a:prstGeom prst="line">
            <a:avLst/>
          </a:prstGeom>
          <a:noFill/>
          <a:ln w="20320">
            <a:solidFill>
              <a:srgbClr val="E066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4937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RECORD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in work already done.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REGULATOR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2011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Safety-and-soundness examination — Florida Office of Financial Regulation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761488"/>
            <a:ext cx="10817352" cy="0"/>
          </a:xfrm>
          <a:prstGeom prst="line">
            <a:avLst/>
          </a:prstGeom>
          <a:noFill/>
          <a:ln w="9525">
            <a:solidFill>
              <a:srgbClr val="E2D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0449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29992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years in audit and risk — Citigroup, JPMorgan Chase, to Vice President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749040"/>
            <a:ext cx="10817352" cy="0"/>
          </a:xfrm>
          <a:prstGeom prst="line">
            <a:avLst/>
          </a:prstGeom>
          <a:noFill/>
          <a:ln w="9525">
            <a:solidFill>
              <a:srgbClr val="E2DAD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0325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98678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AI shipped into a live audit function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736592"/>
            <a:ext cx="10817352" cy="0"/>
          </a:xfrm>
          <a:prstGeom prst="line">
            <a:avLst/>
          </a:prstGeom>
          <a:noFill/>
          <a:ln w="9525">
            <a:solidFill>
              <a:srgbClr val="E2D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020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AD43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974336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 candidate, Florida International University — expected 2028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THE ALGORITHM · YASIR A. MALIK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07716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likAI-786-github-io/bd3f9871-f65b-507f-9b3e-375d1ddfe15f/scratchpad/deckassets/mark-ember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7772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92024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ED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talk.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37947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E06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BRIEF</a:t>
            </a:r>
            <a:endParaRPr lang="en-US" sz="950" dirty="0"/>
          </a:p>
        </p:txBody>
      </p:sp>
      <p:sp>
        <p:nvSpPr>
          <p:cNvPr id="5" name="Text 2">
            <a:hlinkClick r:id="rId2" tooltip=""/>
          </p:cNvPr>
          <p:cNvSpPr txBox="1"/>
          <p:nvPr/>
        </p:nvSpPr>
        <p:spPr>
          <a:xfrm>
            <a:off x="2331720" y="3776472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EDEF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malikai-786.github.io/governance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21538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E06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endParaRPr lang="en-US" sz="950" dirty="0"/>
          </a:p>
        </p:txBody>
      </p:sp>
      <p:sp>
        <p:nvSpPr>
          <p:cNvPr id="7" name="Text 4">
            <a:hlinkClick r:id="rId3" tooltip=""/>
          </p:cNvPr>
          <p:cNvSpPr txBox="1"/>
          <p:nvPr/>
        </p:nvSpPr>
        <p:spPr>
          <a:xfrm>
            <a:off x="2331720" y="4197096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EDEF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YasirAMalik@gmail.com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63600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E06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en-US" sz="950" dirty="0"/>
          </a:p>
        </p:txBody>
      </p:sp>
      <p:sp>
        <p:nvSpPr>
          <p:cNvPr id="9" name="Text 6">
            <a:hlinkClick r:id="rId4" tooltip=""/>
          </p:cNvPr>
          <p:cNvSpPr txBox="1"/>
          <p:nvPr/>
        </p:nvSpPr>
        <p:spPr>
          <a:xfrm>
            <a:off x="2331720" y="4617720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EDEF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malikai-786.github.io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566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E06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LINKEDIN</a:t>
            </a:r>
            <a:endParaRPr lang="en-US" sz="950" dirty="0"/>
          </a:p>
        </p:txBody>
      </p:sp>
      <p:sp>
        <p:nvSpPr>
          <p:cNvPr id="11" name="Text 8">
            <a:hlinkClick r:id="rId5" tooltip=""/>
          </p:cNvPr>
          <p:cNvSpPr txBox="1"/>
          <p:nvPr/>
        </p:nvSpPr>
        <p:spPr>
          <a:xfrm>
            <a:off x="2331720" y="5038344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EDEF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linkedin.com/in/yasiramalik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4772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E06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NEWSLETTER</a:t>
            </a:r>
            <a:endParaRPr lang="en-US" sz="950" dirty="0"/>
          </a:p>
        </p:txBody>
      </p:sp>
      <p:sp>
        <p:nvSpPr>
          <p:cNvPr id="13" name="Text 10">
            <a:hlinkClick r:id="rId6" tooltip=""/>
          </p:cNvPr>
          <p:cNvSpPr txBox="1"/>
          <p:nvPr/>
        </p:nvSpPr>
        <p:spPr>
          <a:xfrm>
            <a:off x="2331720" y="5458968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EDEF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proofoverpromise.substack.com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5989320"/>
            <a:ext cx="10817352" cy="0"/>
          </a:xfrm>
          <a:prstGeom prst="line">
            <a:avLst/>
          </a:prstGeom>
          <a:noFill/>
          <a:ln w="9525">
            <a:solidFill>
              <a:srgbClr val="26303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6144768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6B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with AI-assisted drafting and analysis. All judgment, synthesis, and interpretation are the author's.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 the Algorithm — Yasir A. Malik</dc:title>
  <dc:subject>PptxGenJS Presentation</dc:subject>
  <dc:creator>Yasir A. Malik</dc:creator>
  <cp:lastModifiedBy>Yasir A. Malik</cp:lastModifiedBy>
  <cp:revision>1</cp:revision>
  <dcterms:created xsi:type="dcterms:W3CDTF">2026-08-27T05:13:32Z</dcterms:created>
  <dcterms:modified xsi:type="dcterms:W3CDTF">2026-08-27T05:13:32Z</dcterms:modified>
</cp:coreProperties>
</file>